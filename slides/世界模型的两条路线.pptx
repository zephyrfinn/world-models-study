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94560"/>
            <a:ext cx="1063721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1400"/>
              </a:spcAft>
            </a:pPr>
            <a:r>
              <a:rPr sz="1300" b="1">
                <a:solidFill>
                  <a:srgbClr val="2A78D6"/>
                </a:solidFill>
                <a:latin typeface="微软雅黑"/>
              </a:rPr>
              <a:t>基于模型的强化学习 · Model-based RL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17150F"/>
                </a:solidFill>
                <a:latin typeface="微软雅黑"/>
              </a:rPr>
              <a:t>世界模型的两条路线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2700" b="0">
                <a:solidFill>
                  <a:srgbClr val="4A463B"/>
                </a:solidFill>
                <a:latin typeface="微软雅黑"/>
              </a:rPr>
              <a:t>以及我把其中一条拆开验证之后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500" b="0">
                <a:solidFill>
                  <a:srgbClr val="4A463B"/>
                </a:solidFill>
                <a:latin typeface="微软雅黑"/>
              </a:rPr>
              <a:t>Dreamer（生成式 RSSM）  ·  LeWorldModel（非生成式 JEPA）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分歧在哪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158587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737360"/>
            <a:ext cx="4609947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00" b="1">
                <a:solidFill>
                  <a:srgbClr val="2A78D6"/>
                </a:solidFill>
                <a:latin typeface="微软雅黑"/>
              </a:rPr>
              <a:t>Dreamer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700" b="1">
                <a:solidFill>
                  <a:srgbClr val="17150F"/>
                </a:solidFill>
                <a:latin typeface="微软雅黑"/>
              </a:rPr>
              <a:t>“能画出来，才算真懂。”</a:t>
            </a:r>
          </a:p>
          <a:p>
            <a:pPr>
              <a:lnSpc>
                <a:spcPct val="145000"/>
              </a:lnSpc>
              <a:spcAft>
                <a:spcPts val="800"/>
              </a:spcAft>
            </a:pPr>
            <a:r>
              <a:rPr sz="1300" b="0">
                <a:solidFill>
                  <a:srgbClr val="4A463B"/>
                </a:solidFill>
                <a:latin typeface="微软雅黑"/>
              </a:rPr>
              <a:t>世界模型带 decoder，训练目标包含把潜在状态还原成像素。然后让策略完全在这个模型的想象里训练。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 b="0">
                <a:solidFill>
                  <a:srgbClr val="8D8779"/>
                </a:solidFill>
                <a:latin typeface="微软雅黑"/>
              </a:rPr>
              <a:t>代价：为了预测球往哪飞，顺带得学会画背景里每一片草叶。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55867" y="1508760"/>
            <a:ext cx="5158587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0187" y="1737360"/>
            <a:ext cx="4609947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00" b="1">
                <a:solidFill>
                  <a:srgbClr val="2A78D6"/>
                </a:solidFill>
                <a:latin typeface="微软雅黑"/>
              </a:rPr>
              <a:t>JEPA / LeWorldModel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700" b="1">
                <a:solidFill>
                  <a:srgbClr val="17150F"/>
                </a:solidFill>
                <a:latin typeface="微软雅黑"/>
              </a:rPr>
              <a:t>“预测像素本身就是错的目标。”</a:t>
            </a:r>
          </a:p>
          <a:p>
            <a:pPr>
              <a:lnSpc>
                <a:spcPct val="145000"/>
              </a:lnSpc>
              <a:spcAft>
                <a:spcPts val="800"/>
              </a:spcAft>
            </a:pPr>
            <a:r>
              <a:rPr sz="1300" b="0">
                <a:solidFill>
                  <a:srgbClr val="4A463B"/>
                </a:solidFill>
                <a:latin typeface="微软雅黑"/>
              </a:rPr>
              <a:t>完全没有 decoder。把观测编码成向量，只预测下一个向量。规划放到测试时做——CEM 搜索动作序列。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 b="0">
                <a:solidFill>
                  <a:srgbClr val="8D8779"/>
                </a:solidFill>
                <a:latin typeface="微软雅黑"/>
              </a:rPr>
              <a:t>代价：没有任何东西阻止 encoder 塌缩成一个常数。必须额外加约束。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83480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00" b="0">
                <a:solidFill>
                  <a:srgbClr val="8D8779"/>
                </a:solidFill>
                <a:latin typeface="微软雅黑"/>
              </a:rPr>
              <a:t>两者不共享优化目标（奖励 vs 与目标的距离），也不共享评估指标（累计回报 vs 成功率）。这一点后面还会回来。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我做了什么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828800"/>
            <a:ext cx="3362858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2057400"/>
            <a:ext cx="2850794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8D8779"/>
                </a:solidFill>
                <a:latin typeface="Consolas"/>
              </a:rPr>
              <a:t>1</a:t>
            </a:r>
          </a:p>
          <a:p>
            <a:pPr>
              <a:lnSpc>
                <a:spcPct val="145000"/>
              </a:lnSpc>
              <a:spcAft>
                <a:spcPts val="800"/>
              </a:spcAft>
            </a:pPr>
            <a:r>
              <a:rPr sz="1600" b="1">
                <a:solidFill>
                  <a:srgbClr val="17150F"/>
                </a:solidFill>
                <a:latin typeface="微软雅黑"/>
              </a:rPr>
              <a:t>手写 Dreamer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4A463B"/>
                </a:solidFill>
                <a:latin typeface="微软雅黑"/>
              </a:rPr>
              <a:t>从零实现，单文件。RSSM、reward model、actor-critic、imagination rollout。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4418" y="1828800"/>
            <a:ext cx="3362858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0450" y="2057400"/>
            <a:ext cx="2850794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8D8779"/>
                </a:solidFill>
                <a:latin typeface="Consolas"/>
              </a:rPr>
              <a:t>2</a:t>
            </a:r>
          </a:p>
          <a:p>
            <a:pPr>
              <a:lnSpc>
                <a:spcPct val="145000"/>
              </a:lnSpc>
              <a:spcAft>
                <a:spcPts val="800"/>
              </a:spcAft>
            </a:pPr>
            <a:r>
              <a:rPr sz="1600" b="1">
                <a:solidFill>
                  <a:srgbClr val="17150F"/>
                </a:solidFill>
                <a:latin typeface="微软雅黑"/>
              </a:rPr>
              <a:t>复现 LeWorldModel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4A463B"/>
                </a:solidFill>
                <a:latin typeface="微软雅黑"/>
              </a:rPr>
              <a:t>跑通官方实现，复现出 86% 的规划成功率。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1596" y="1828800"/>
            <a:ext cx="3362858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7628" y="2057400"/>
            <a:ext cx="2850794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200" b="1">
                <a:solidFill>
                  <a:srgbClr val="8D8779"/>
                </a:solidFill>
                <a:latin typeface="Consolas"/>
              </a:rPr>
              <a:t>3</a:t>
            </a:r>
          </a:p>
          <a:p>
            <a:pPr>
              <a:lnSpc>
                <a:spcPct val="145000"/>
              </a:lnSpc>
              <a:spcAft>
                <a:spcPts val="800"/>
              </a:spcAft>
            </a:pPr>
            <a:r>
              <a:rPr sz="1600" b="1">
                <a:solidFill>
                  <a:srgbClr val="17150F"/>
                </a:solidFill>
                <a:latin typeface="微软雅黑"/>
              </a:rPr>
              <a:t>然后去验证它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4A463B"/>
                </a:solidFill>
                <a:latin typeface="微软雅黑"/>
              </a:rPr>
              <a:t>三组受控实验。这才是值得讲的部分。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Dreamer，一行行写出来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4A463B"/>
                </a:solidFill>
                <a:latin typeface="微软雅黑"/>
              </a:rPr>
              <a:t>约 670 行，不依赖任何框架。GRU 确定性状态 + 32×16 categorical 随机状态，straight-through 梯度，actor-critic 完全在想象轨迹上用 λ-return 训练。</a:t>
            </a:r>
          </a:p>
        </p:txBody>
      </p:sp>
      <p:pic>
        <p:nvPicPr>
          <p:cNvPr id="4" name="Picture 3" descr="comparison_multi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966" y="2057400"/>
            <a:ext cx="3927763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1663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17150F"/>
                </a:solidFill>
                <a:latin typeface="Consolas"/>
              </a:rPr>
              <a:t>240.1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8D8779"/>
                </a:solidFill>
                <a:latin typeface="微软雅黑"/>
              </a:rPr>
              <a:t>Dreamer 平均回报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51663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17150F"/>
                </a:solidFill>
                <a:latin typeface="Consolas"/>
              </a:rPr>
              <a:t>113.8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8D8779"/>
                </a:solidFill>
                <a:latin typeface="微软雅黑"/>
              </a:rPr>
              <a:t>Double-DQN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51663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8D8779"/>
                </a:solidFill>
                <a:latin typeface="微软雅黑"/>
              </a:rPr>
              <a:t>CartPole-v1 · 2 万步 · 3 个 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01_dreamer_from_scratch/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想象出来的东西，对应现实吗？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4A463B"/>
                </a:solidFill>
                <a:latin typeface="微软雅黑"/>
              </a:rPr>
              <a:t>actor 从头到尾没见过一个真实状态。所以关键问题是：想象轨迹跟不跟现实对齐，还是说世界模型编了一个奖励很高但不存在的世界，策略在里面自我陶醉。</a:t>
            </a:r>
          </a:p>
        </p:txBody>
      </p:sp>
      <p:pic>
        <p:nvPicPr>
          <p:cNvPr id="4" name="Picture 3" descr="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419" y="2148840"/>
            <a:ext cx="3918857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120640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00" b="0">
                <a:solidFill>
                  <a:srgbClr val="8D8779"/>
                </a:solidFill>
                <a:latin typeface="微软雅黑"/>
              </a:rPr>
              <a:t>KL 稳定在 0.8 附近，free bits 正在起作用（既没后验塌缩也没爆炸）。想象中算出的 λ-return 从 0 涨到 70+，与真实评估回报同步——这就是“没有自欺”的证据。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01_dreamer_from_scratch/results/diagnostics.png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LeWorldModel，复现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17150F"/>
                </a:solidFill>
                <a:latin typeface="Consolas"/>
              </a:rPr>
              <a:t>86%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8D8779"/>
                </a:solidFill>
                <a:latin typeface="微软雅黑"/>
              </a:rPr>
              <a:t>官方 checkpoint 的规划成功率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9080" y="16002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17150F"/>
                </a:solidFill>
                <a:latin typeface="Consolas"/>
              </a:rPr>
              <a:t>约 4 小时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8D8779"/>
                </a:solidFill>
                <a:latin typeface="微软雅黑"/>
              </a:rPr>
              <a:t>花在装环境上，不是花在科研上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400" b="0">
                <a:solidFill>
                  <a:srgbClr val="4A463B"/>
                </a:solidFill>
                <a:latin typeface="微软雅黑"/>
              </a:rPr>
              <a:t>tworoom 任务，CEM-MPC，50 条留出 episode。这是后面所有数字的参照基准。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1063721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8D8779"/>
                </a:solidFill>
                <a:latin typeface="微软雅黑"/>
              </a:rPr>
              <a:t>官方 README 和已发布的包之间有四处断裂：</a:t>
            </a:r>
          </a:p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1250" b="0">
                <a:solidFill>
                  <a:srgbClr val="8D8779"/>
                </a:solidFill>
                <a:latin typeface="微软雅黑"/>
              </a:rPr>
              <a:t>·  box2d-py 缺 swig 编译不过</a:t>
            </a:r>
          </a:p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1250" b="0">
                <a:solidFill>
                  <a:srgbClr val="8D8779"/>
                </a:solidFill>
                <a:latin typeface="微软雅黑"/>
              </a:rPr>
              <a:t>·  datasets 解析到五年前的版本，与现代 pyarrow 不兼容</a:t>
            </a:r>
          </a:p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1250" b="0">
                <a:solidFill>
                  <a:srgbClr val="8D8779"/>
                </a:solidFill>
                <a:latin typeface="微软雅黑"/>
              </a:rPr>
              <a:t>·  transformers 5.x 重命名了所有 ViT 权重，导致 checkpoint 加载失败</a:t>
            </a:r>
          </a:p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1250" b="0">
                <a:solidFill>
                  <a:srgbClr val="8D8779"/>
                </a:solidFill>
                <a:latin typeface="微软雅黑"/>
              </a:rPr>
              <a:t>·  HDF5 支持在包里，但被一个静默的 import 失败关掉了</a:t>
            </a:r>
          </a:p>
          <a:p>
            <a:pPr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8D8779"/>
                </a:solidFill>
                <a:latin typeface="微软雅黑"/>
              </a:rPr>
              <a:t>这些我全写进了仓库——复现类文章通常略过这段，而这段恰恰是真正卡住人的地方。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02_lewm_reproduction/setup.md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377440"/>
            <a:ext cx="1063721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1600"/>
              </a:spcAft>
            </a:pPr>
            <a:r>
              <a:rPr sz="1400" b="1">
                <a:solidFill>
                  <a:srgbClr val="8FB8E8"/>
                </a:solidFill>
                <a:latin typeface="微软雅黑"/>
              </a:rPr>
              <a:t>以上是复现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4200" b="1">
                <a:solidFill>
                  <a:srgbClr val="FFFFFF"/>
                </a:solidFill>
                <a:latin typeface="微软雅黑"/>
              </a:rPr>
              <a:t>以下是我自己做的</a:t>
            </a:r>
          </a:p>
          <a:p>
            <a:pPr>
              <a:lnSpc>
                <a:spcPct val="145000"/>
              </a:lnSpc>
              <a:spcAft>
                <a:spcPts val="200"/>
              </a:spcAft>
            </a:pPr>
            <a:r>
              <a:rPr sz="1400" b="0">
                <a:solidFill>
                  <a:srgbClr val="B8B3A5"/>
                </a:solidFill>
                <a:latin typeface="微软雅黑"/>
              </a:rPr>
              <a:t>同一份数据、同一个 encoder、同一个优化器、同样 900 步梯度更新、同样 50 条留出 episode。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400" b="0">
                <a:solidFill>
                  <a:srgbClr val="B8B3A5"/>
                </a:solidFill>
                <a:latin typeface="微软雅黑"/>
              </a:rPr>
              <a:t>每组实验只动一个变量。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B8B3A5"/>
                </a:solidFill>
                <a:latin typeface="Consolas"/>
              </a:rPr>
              <a:t>03_experiments/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B8B3A5"/>
                </a:solidFill>
                <a:latin typeface="Consolas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实验一 —— 需要看多少历史？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4A463B"/>
                </a:solidFill>
                <a:latin typeface="微软雅黑"/>
              </a:rPr>
              <a:t>history_size ∈ {1, 3, 5}，即 predictor 能看到几帧过去的 embedding。3 是论文默认值。</a:t>
            </a:r>
          </a:p>
        </p:txBody>
      </p:sp>
      <p:pic>
        <p:nvPicPr>
          <p:cNvPr id="4" name="Picture 3" descr="exp1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362" y="1920240"/>
            <a:ext cx="6682970" cy="2651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754880"/>
            <a:ext cx="106372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1">
                <a:solidFill>
                  <a:srgbClr val="17150F"/>
                </a:solidFill>
                <a:latin typeface="微软雅黑"/>
              </a:rPr>
              <a:t>loss 随上下文单调下降，成功率却没跟上。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 b="0">
                <a:solidFill>
                  <a:srgbClr val="8D8779"/>
                </a:solidFill>
                <a:latin typeface="微软雅黑"/>
              </a:rPr>
              <a:t>h=1 → h=3 这一步，loss 改善了，成功率反而掉了 2 个点。50 条 episode 的标准误约 7 个百分点，所以这一对就是噪声，我能下的结论只有“h=5 更好”。但正是这个错位，引出了后面两组实验。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03_experiments/exp1_horizon/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实验二 —— loss 到底能不能给模型排序？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4A463B"/>
                </a:solidFill>
                <a:latin typeface="微软雅黑"/>
              </a:rPr>
              <a:t>PLDM 的构造函数签名和接口与 LeWM 完全一致，所以只改配置里两个 _target_ 路径，就能塞进同一个训练循环和同一个规划器。同预算、同评估。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286000"/>
          <a:ext cx="822959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9265"/>
                <a:gridCol w="2015412"/>
                <a:gridCol w="2015412"/>
                <a:gridCol w="1679510"/>
              </a:tblGrid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 marL="118872" marR="118872" marT="36576" marB="36576" anchor="ctr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D8779"/>
                          </a:solidFill>
                          <a:latin typeface="微软雅黑"/>
                        </a:rPr>
                        <a:t>pred_loss</a:t>
                      </a:r>
                    </a:p>
                  </a:txBody>
                  <a:tcPr marL="118872" marR="118872" marT="36576" marB="36576" anchor="ctr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D8779"/>
                          </a:solidFill>
                          <a:latin typeface="微软雅黑"/>
                        </a:rPr>
                        <a:t>规划成功率</a:t>
                      </a:r>
                    </a:p>
                  </a:txBody>
                  <a:tcPr marL="118872" marR="118872" marT="36576" marB="36576" anchor="ctr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D8779"/>
                          </a:solidFill>
                          <a:latin typeface="微软雅黑"/>
                        </a:rPr>
                        <a:t>死维度</a:t>
                      </a:r>
                    </a:p>
                  </a:txBody>
                  <a:tcPr marL="118872" marR="118872" marT="36576" marB="36576" anchor="ctr">
                    <a:solidFill>
                      <a:srgbClr val="FAF9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50F"/>
                          </a:solidFill>
                          <a:latin typeface="微软雅黑"/>
                        </a:rPr>
                        <a:t>LeWM h=3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50F"/>
                          </a:solidFill>
                          <a:latin typeface="Consolas"/>
                        </a:rPr>
                        <a:t>0.266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50F"/>
                          </a:solidFill>
                          <a:latin typeface="Consolas"/>
                        </a:rPr>
                        <a:t>52%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50F"/>
                          </a:solidFill>
                          <a:latin typeface="Consolas"/>
                        </a:rPr>
                        <a:t>0 / 192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150F"/>
                          </a:solidFill>
                          <a:latin typeface="微软雅黑"/>
                        </a:rPr>
                        <a:t>PLDM</a:t>
                      </a:r>
                    </a:p>
                  </a:txBody>
                  <a:tcPr marL="118872" marR="118872" marT="36576" marB="36576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7150F"/>
                          </a:solidFill>
                          <a:latin typeface="Consolas"/>
                        </a:rPr>
                        <a:t>0.298（更差）</a:t>
                      </a:r>
                    </a:p>
                  </a:txBody>
                  <a:tcPr marL="118872" marR="118872" marT="36576" marB="36576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7150F"/>
                          </a:solidFill>
                          <a:latin typeface="Consolas"/>
                        </a:rPr>
                        <a:t>66%（更好）</a:t>
                      </a:r>
                    </a:p>
                  </a:txBody>
                  <a:tcPr marL="118872" marR="118872" marT="36576" marB="36576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7150F"/>
                          </a:solidFill>
                          <a:latin typeface="Consolas"/>
                        </a:rPr>
                        <a:t>0 / 192</a:t>
                      </a:r>
                    </a:p>
                  </a:txBody>
                  <a:tcPr marL="118872" marR="118872" marT="36576" marB="36576" anchor="ctr">
                    <a:solidFill>
                      <a:srgbClr val="E8F3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114800"/>
            <a:ext cx="106372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500"/>
              </a:spcAft>
            </a:pPr>
            <a:r>
              <a:rPr sz="1300" b="1">
                <a:solidFill>
                  <a:srgbClr val="17150F"/>
                </a:solidFill>
                <a:latin typeface="微软雅黑"/>
              </a:rPr>
              <a:t>预测更差，规划更好。两者 embedding 都健康（没有死维度），所以这不是塌缩造成的假象。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 b="0">
                <a:solidFill>
                  <a:srgbClr val="8D8779"/>
                </a:solidFill>
                <a:latin typeface="微软雅黑"/>
              </a:rPr>
              <a:t>单 seed、14 个点对 7pp 标准误——是“值得注意”，不是“已证实”。另外这训的是 PLDM 的架构配 LeWM 的训练配方，不是 PLDM 自己的，所以不能当作对 PLDM 论文的复现来引用。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03_experiments/exp2_pldm/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实验三 —— 于是我不再信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372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4A463B"/>
                </a:solidFill>
                <a:latin typeface="微软雅黑"/>
              </a:rPr>
              <a:t>LeWorldModel 的核心主张：两项 loss 就够，因为 SIGReg 会防止表征塌缩。我把它的权重扫到 0.001 和 1.0，并且没有去读 loss，而是直接测量 embedding 本身。</a:t>
            </a:r>
          </a:p>
        </p:txBody>
      </p:sp>
      <p:pic>
        <p:nvPicPr>
          <p:cNvPr id="4" name="Picture 3" descr="exp3_sig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257" y="2103120"/>
            <a:ext cx="6445181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892040"/>
            <a:ext cx="106372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1">
                <a:solidFill>
                  <a:srgbClr val="17150F"/>
                </a:solidFill>
                <a:latin typeface="微软雅黑"/>
              </a:rPr>
              <a:t>权重 0.001 时：pred_loss = 0.004，是我整晚训出来的最低值，比正常模型好 60 倍——同时 192 维里有 69 维已经死掉。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 b="0">
                <a:solidFill>
                  <a:srgbClr val="8D8779"/>
                </a:solidFill>
                <a:latin typeface="微软雅黑"/>
              </a:rPr>
              <a:t>encoder 塌缩会让预测任务变得极其简单，这个指标在这里是反向的。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03_experiments/exp3_sigreg/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正则项没有失灵，它是被架空了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417320"/>
          <a:ext cx="932687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79"/>
                <a:gridCol w="1554479"/>
                <a:gridCol w="1709927"/>
                <a:gridCol w="1709927"/>
                <a:gridCol w="1399031"/>
                <a:gridCol w="1399031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8D8779"/>
                          </a:solidFill>
                          <a:latin typeface="微软雅黑"/>
                        </a:rPr>
                        <a:t>λ</a:t>
                      </a:r>
                    </a:p>
                  </a:txBody>
                  <a:tcPr marL="118872" marR="118872" marT="36576" marB="36576" anchor="ctr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D8779"/>
                          </a:solidFill>
                          <a:latin typeface="微软雅黑"/>
                        </a:rPr>
                        <a:t>pred_loss</a:t>
                      </a:r>
                    </a:p>
                  </a:txBody>
                  <a:tcPr marL="118872" marR="118872" marT="36576" marB="36576" anchor="ctr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D8779"/>
                          </a:solidFill>
                          <a:latin typeface="微软雅黑"/>
                        </a:rPr>
                        <a:t>sigreg_loss</a:t>
                      </a:r>
                    </a:p>
                  </a:txBody>
                  <a:tcPr marL="118872" marR="118872" marT="36576" marB="36576" anchor="ctr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D8779"/>
                          </a:solidFill>
                          <a:latin typeface="微软雅黑"/>
                        </a:rPr>
                        <a:t>emb 标准差</a:t>
                      </a:r>
                    </a:p>
                  </a:txBody>
                  <a:tcPr marL="118872" marR="118872" marT="36576" marB="36576" anchor="ctr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D8779"/>
                          </a:solidFill>
                          <a:latin typeface="微软雅黑"/>
                        </a:rPr>
                        <a:t>死维度</a:t>
                      </a:r>
                    </a:p>
                  </a:txBody>
                  <a:tcPr marL="118872" marR="118872" marT="36576" marB="36576" anchor="ctr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D8779"/>
                          </a:solidFill>
                          <a:latin typeface="微软雅黑"/>
                        </a:rPr>
                        <a:t>成功率</a:t>
                      </a:r>
                    </a:p>
                  </a:txBody>
                  <a:tcPr marL="118872" marR="118872" marT="36576" marB="36576" anchor="ctr">
                    <a:solidFill>
                      <a:srgbClr val="FAF9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C8402E"/>
                          </a:solidFill>
                          <a:latin typeface="微软雅黑"/>
                        </a:rPr>
                        <a:t>0.001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C8402E"/>
                          </a:solidFill>
                          <a:latin typeface="Consolas"/>
                        </a:rPr>
                        <a:t>0.004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C8402E"/>
                          </a:solidFill>
                          <a:latin typeface="Consolas"/>
                        </a:rPr>
                        <a:t>50.75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C8402E"/>
                          </a:solidFill>
                          <a:latin typeface="Consolas"/>
                        </a:rPr>
                        <a:t>0.0012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C8402E"/>
                          </a:solidFill>
                          <a:latin typeface="Consolas"/>
                        </a:rPr>
                        <a:t>69/192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C8402E"/>
                          </a:solidFill>
                          <a:latin typeface="Consolas"/>
                        </a:rPr>
                        <a:t>34%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7150F"/>
                          </a:solidFill>
                          <a:latin typeface="微软雅黑"/>
                        </a:rPr>
                        <a:t>0.09  ★</a:t>
                      </a:r>
                    </a:p>
                  </a:txBody>
                  <a:tcPr marL="118872" marR="118872" marT="36576" marB="36576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7150F"/>
                          </a:solidFill>
                          <a:latin typeface="Consolas"/>
                        </a:rPr>
                        <a:t>0.266</a:t>
                      </a:r>
                    </a:p>
                  </a:txBody>
                  <a:tcPr marL="118872" marR="118872" marT="36576" marB="36576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7150F"/>
                          </a:solidFill>
                          <a:latin typeface="Consolas"/>
                        </a:rPr>
                        <a:t>5.16</a:t>
                      </a:r>
                    </a:p>
                  </a:txBody>
                  <a:tcPr marL="118872" marR="118872" marT="36576" marB="36576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7150F"/>
                          </a:solidFill>
                          <a:latin typeface="Consolas"/>
                        </a:rPr>
                        <a:t>0.325</a:t>
                      </a:r>
                    </a:p>
                  </a:txBody>
                  <a:tcPr marL="118872" marR="118872" marT="36576" marB="36576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7150F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18872" marR="118872" marT="36576" marB="36576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7150F"/>
                          </a:solidFill>
                          <a:latin typeface="Consolas"/>
                        </a:rPr>
                        <a:t>52%</a:t>
                      </a:r>
                    </a:p>
                  </a:txBody>
                  <a:tcPr marL="118872" marR="118872" marT="36576" marB="36576" anchor="ctr">
                    <a:solidFill>
                      <a:srgbClr val="E8F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50F"/>
                          </a:solidFill>
                          <a:latin typeface="微软雅黑"/>
                        </a:rPr>
                        <a:t>1.0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50F"/>
                          </a:solidFill>
                          <a:latin typeface="Consolas"/>
                        </a:rPr>
                        <a:t>1.074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50F"/>
                          </a:solidFill>
                          <a:latin typeface="Consolas"/>
                        </a:rPr>
                        <a:t>11.77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50F"/>
                          </a:solidFill>
                          <a:latin typeface="Consolas"/>
                        </a:rPr>
                        <a:t>0.115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50F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50F"/>
                          </a:solidFill>
                          <a:latin typeface="Consolas"/>
                        </a:rPr>
                        <a:t>38%</a:t>
                      </a:r>
                    </a:p>
                  </a:txBody>
                  <a:tcPr marL="118872" marR="11887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3337560"/>
            <a:ext cx="1063721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400" b="1">
                <a:solidFill>
                  <a:srgbClr val="17150F"/>
                </a:solidFill>
                <a:latin typeface="微软雅黑"/>
              </a:rPr>
              <a:t>SIGReg 一直在报警——它的值是 50.75，是健康状态的十倍。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350" b="0">
                <a:solidFill>
                  <a:srgbClr val="4A463B"/>
                </a:solidFill>
                <a:latin typeface="微软雅黑"/>
              </a:rPr>
              <a:t>但权重只有 0.001，它对总 loss 的贡献只有 0.001 × 50.75 ≈ 0.05，而模型靠塌缩省下了 0.26 的预测误差。它出价出不过。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 b="0">
                <a:solidFill>
                  <a:srgbClr val="8D8779"/>
                </a:solidFill>
                <a:latin typeface="微软雅黑"/>
              </a:rPr>
              <a:t>另一头是过度正则：不塌缩，但 embedding 被压得太紧（标准差 0.325 → 0.115），区分状态的能力变弱。论文选的 0.09 正好落在这个倒 U 的顶点。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03_experiments/exp3_sigreg/probe_collapse.py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六个 checkpoint，没有趋势线</a:t>
            </a:r>
          </a:p>
        </p:txBody>
      </p:sp>
      <p:pic>
        <p:nvPicPr>
          <p:cNvPr id="3" name="Picture 2" descr="loss_vs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551" y="1463040"/>
            <a:ext cx="6040593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5120640"/>
            <a:ext cx="106372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1">
                <a:solidFill>
                  <a:srgbClr val="17150F"/>
                </a:solidFill>
                <a:latin typeface="微软雅黑"/>
              </a:rPr>
              <a:t>如果验证 loss 是可靠的代理指标，横跨三个数量级应该呈现一条向右下的趋势线。它没有。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 b="0">
                <a:solidFill>
                  <a:srgbClr val="8D8779"/>
                </a:solidFill>
                <a:latin typeface="微软雅黑"/>
              </a:rPr>
              <a:t>loss 最低的那个点是塌缩模型；规划最好的那个甚至不是 LeWM。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04_analysis/summary.csv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规模验证 —— DreamerV3 在 DMC walker-walk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37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4A463B"/>
                </a:solidFill>
                <a:latin typeface="微软雅黑"/>
              </a:rPr>
              <a:t>手写版证明我理解每个组件；这一条是官方实现在真实基准上的完整曲线。</a:t>
            </a:r>
          </a:p>
        </p:txBody>
      </p:sp>
      <p:pic>
        <p:nvPicPr>
          <p:cNvPr id="4" name="Picture 3" descr="dreamerv3_wal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06" y="1874519"/>
            <a:ext cx="5238483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93776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17150F"/>
                </a:solidFill>
                <a:latin typeface="Consolas"/>
              </a:rPr>
              <a:t>961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8D8779"/>
                </a:solidFill>
                <a:latin typeface="微软雅黑"/>
              </a:rPr>
              <a:t>535k 步时的评估回报（满分约 1000）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5029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00" b="0">
                <a:solidFill>
                  <a:srgbClr val="8D8779"/>
                </a:solidFill>
                <a:latin typeface="微软雅黑"/>
              </a:rPr>
              <a:t>曲线仍在上升，重新生成可刷新数值。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05_dreamerv3_scale/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真正花掉时间的地方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3721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400" b="1">
                <a:solidFill>
                  <a:srgbClr val="17150F"/>
                </a:solidFill>
                <a:latin typeface="微软雅黑"/>
              </a:rPr>
              <a:t>把 torch 软链进别人的 venv 复用。</a:t>
            </a:r>
          </a:p>
          <a:p>
            <a:pPr>
              <a:lnSpc>
                <a:spcPct val="145000"/>
              </a:lnSpc>
              <a:spcAft>
                <a:spcPts val="1400"/>
              </a:spcAft>
            </a:pPr>
            <a:r>
              <a:rPr sz="1250" b="0">
                <a:solidFill>
                  <a:srgbClr val="4A463B"/>
                </a:solidFill>
                <a:latin typeface="微软雅黑"/>
              </a:rPr>
              <a:t>uv 在处理一个没锁版本的 torch&gt;=2 时顺着软链写穿了，悄悄把另一个项目的 torch 从 2.7 升到 2.14，而那个项目当时还有个跑了一天的进程在跑。</a:t>
            </a:r>
          </a:p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1400" b="1">
                <a:solidFill>
                  <a:srgbClr val="17150F"/>
                </a:solidFill>
                <a:latin typeface="微软雅黑"/>
              </a:rPr>
              <a:t>embed_dim 不是自由超参数。</a:t>
            </a:r>
          </a:p>
          <a:p>
            <a:pPr>
              <a:lnSpc>
                <a:spcPct val="145000"/>
              </a:lnSpc>
              <a:spcAft>
                <a:spcPts val="1400"/>
              </a:spcAft>
            </a:pPr>
            <a:r>
              <a:rPr sz="1250" b="0">
                <a:solidFill>
                  <a:srgbClr val="4A463B"/>
                </a:solidFill>
                <a:latin typeface="微软雅黑"/>
              </a:rPr>
              <a:t>projector 的输入宽度取自它，而 ViT-tiny 的宽度固定在 192。我原计划的第一个消融直接崩在矩阵维度上——要正经扫它必须同步缩放骨干网络，那就不再是单变量消融了。</a:t>
            </a:r>
          </a:p>
          <a:p>
            <a:pPr>
              <a:lnSpc>
                <a:spcPct val="145000"/>
              </a:lnSpc>
              <a:spcAft>
                <a:spcPts val="300"/>
              </a:spcAft>
            </a:pPr>
            <a:r>
              <a:rPr sz="1400" b="1">
                <a:solidFill>
                  <a:srgbClr val="17150F"/>
                </a:solidFill>
                <a:latin typeface="微软雅黑"/>
              </a:rPr>
              <a:t>stdout 缓冲藏了两小时进度。</a:t>
            </a:r>
          </a:p>
          <a:p>
            <a:pPr>
              <a:lnSpc>
                <a:spcPct val="145000"/>
              </a:lnSpc>
              <a:spcAft>
                <a:spcPts val="1400"/>
              </a:spcAft>
            </a:pPr>
            <a:r>
              <a:rPr sz="1250" b="0">
                <a:solidFill>
                  <a:srgbClr val="4A463B"/>
                </a:solidFill>
                <a:latin typeface="微软雅黑"/>
              </a:rPr>
              <a:t>终端日志卡在 45000 步一个多小时，而显式落盘的 metrics.jsonl 早就过了 80000 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94960"/>
            <a:ext cx="106372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00" b="0">
                <a:solidFill>
                  <a:srgbClr val="8D8779"/>
                </a:solidFill>
                <a:latin typeface="微软雅黑"/>
              </a:rPr>
              <a:t>完整记录在仓库的 engineering log 里。写下来是因为——出问题的地方，恰恰是没人愿意写下来的地方。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notes/engineering_log.md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7150F"/>
                </a:solidFill>
                <a:latin typeface="微软雅黑"/>
              </a:rPr>
              <a:t>什么站得住，什么站不住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63040"/>
            <a:ext cx="5158587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4609947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 b="1">
                <a:solidFill>
                  <a:srgbClr val="2A78D6"/>
                </a:solidFill>
                <a:latin typeface="微软雅黑"/>
              </a:rPr>
              <a:t>站得住</a:t>
            </a:r>
          </a:p>
          <a:p>
            <a:pPr>
              <a:lnSpc>
                <a:spcPct val="145000"/>
              </a:lnSpc>
              <a:spcAft>
                <a:spcPts val="900"/>
              </a:spcAft>
            </a:pPr>
            <a:r>
              <a:rPr sz="1250" b="0">
                <a:solidFill>
                  <a:srgbClr val="4A463B"/>
                </a:solidFill>
                <a:latin typeface="微软雅黑"/>
              </a:rPr>
              <a:t>λ=0.001 的塌缩：18 个点的成功率差距，并且有一个独立的机制测量指向同一方向。</a:t>
            </a:r>
          </a:p>
          <a:p>
            <a:pPr>
              <a:lnSpc>
                <a:spcPct val="145000"/>
              </a:lnSpc>
              <a:spcAft>
                <a:spcPts val="900"/>
              </a:spcAft>
            </a:pPr>
            <a:r>
              <a:rPr sz="1250" b="0">
                <a:solidFill>
                  <a:srgbClr val="4A463B"/>
                </a:solidFill>
                <a:latin typeface="微软雅黑"/>
              </a:rPr>
              <a:t>官方 checkpoint 的 86%，对比我 900 步训练的所有模型。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55867" y="1463040"/>
            <a:ext cx="5158587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0187" y="1691640"/>
            <a:ext cx="4609947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 b="1">
                <a:solidFill>
                  <a:srgbClr val="8D8779"/>
                </a:solidFill>
                <a:latin typeface="微软雅黑"/>
              </a:rPr>
              <a:t>站不住</a:t>
            </a:r>
          </a:p>
          <a:p>
            <a:pPr>
              <a:lnSpc>
                <a:spcPct val="145000"/>
              </a:lnSpc>
              <a:spcAft>
                <a:spcPts val="900"/>
              </a:spcAft>
            </a:pPr>
            <a:r>
              <a:rPr sz="1250" b="0">
                <a:solidFill>
                  <a:srgbClr val="4A463B"/>
                </a:solidFill>
                <a:latin typeface="微软雅黑"/>
              </a:rPr>
              <a:t>单 seed、900 步、50 条评估。任何小于 10 个点的差距都是噪声——h=1 vs h=3、PLDM vs h=5 都在此列。</a:t>
            </a:r>
          </a:p>
          <a:p>
            <a:pPr>
              <a:lnSpc>
                <a:spcPct val="145000"/>
              </a:lnSpc>
              <a:spcAft>
                <a:spcPts val="900"/>
              </a:spcAft>
            </a:pPr>
            <a:r>
              <a:rPr sz="1250" b="0">
                <a:solidFill>
                  <a:srgbClr val="4A463B"/>
                </a:solidFill>
                <a:latin typeface="微软雅黑"/>
              </a:rPr>
              <a:t>没有 Dreamer 与 LeWorldModel 的正面对比：目标函数和评估指标都不共享。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89120"/>
            <a:ext cx="1063721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4A463B"/>
                </a:solidFill>
                <a:latin typeface="微软雅黑"/>
              </a:rPr>
              <a:t>下一步：先补到 3–5 个 seed 再谈其余结论；把 h 扫到 7–8 看收益在哪里饱和；以及把死维度数做成训练期的实时监控——它便宜，而且能抓到 loss 曲线藏起来的塌缩。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91072"/>
            <a:ext cx="953993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README.md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291072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5000"/>
              </a:lnSpc>
              <a:spcAft>
                <a:spcPts val="600"/>
              </a:spcAft>
            </a:pPr>
            <a:r>
              <a:rPr sz="950" b="0">
                <a:solidFill>
                  <a:srgbClr val="8D8779"/>
                </a:solidFill>
                <a:latin typeface="Consola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